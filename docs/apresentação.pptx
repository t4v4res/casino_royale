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xmlns=""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embeddedFontLst>
    <p:embeddedFont>
      <p:font typeface="Neuton"/>
      <p:regular r:id="rId22"/>
    </p:embeddedFont>
    <p:embeddedFont>
      <p:font typeface="Open Sans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xmlns="" Id="rId22" Type="http://schemas.openxmlformats.org/officeDocument/2006/relationships/font" Target="fonts/rId22.fntdata"/><Relationship xmlns="" Id="rId23" Type="http://schemas.openxmlformats.org/officeDocument/2006/relationships/font" Target="fonts/rId2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4325" y="409575"/>
            <a:ext cx="8191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5"/>
              </a:lnSpc>
              <a:buNone/>
            </a:pPr>
            <a:r>
              <a:rPr lang="en-US" sz="7125" spc="-157" kern="0" dirty="0">
                <a:solidFill>
                  <a:srgbClr val="C7EF4E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Casino Royale 3D</a:t>
            </a:r>
            <a:endParaRPr lang="en-US" sz="7125" dirty="0"/>
          </a:p>
        </p:txBody>
      </p:sp>
      <p:sp>
        <p:nvSpPr>
          <p:cNvPr id="3" name="Shape 1"/>
          <p:cNvSpPr/>
          <p:nvPr/>
        </p:nvSpPr>
        <p:spPr>
          <a:xfrm>
            <a:off x="476250" y="4267200"/>
            <a:ext cx="2633663" cy="139065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76250" y="4267200"/>
            <a:ext cx="2633663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spc="-28" kern="0" dirty="0">
                <a:solidFill>
                  <a:srgbClr val="C7EF4E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Guilherme Tavares 119867</a:t>
            </a:r>
            <a:endParaRPr lang="en-US" sz="1283" dirty="0"/>
          </a:p>
        </p:txBody>
      </p:sp>
      <p:sp>
        <p:nvSpPr>
          <p:cNvPr id="5" name="Shape 3"/>
          <p:cNvSpPr/>
          <p:nvPr/>
        </p:nvSpPr>
        <p:spPr>
          <a:xfrm>
            <a:off x="476250" y="4471988"/>
            <a:ext cx="2605088" cy="695325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476250" y="4471988"/>
            <a:ext cx="2605088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spc="-28" kern="0" dirty="0">
                <a:solidFill>
                  <a:srgbClr val="C7EF4E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Introdução à Computação Gráfica</a:t>
            </a:r>
            <a:endParaRPr lang="en-US" sz="1283" dirty="0"/>
          </a:p>
        </p:txBody>
      </p:sp>
      <p:sp>
        <p:nvSpPr>
          <p:cNvPr id="7" name="Text 5"/>
          <p:cNvSpPr/>
          <p:nvPr/>
        </p:nvSpPr>
        <p:spPr>
          <a:xfrm>
            <a:off x="476250" y="4676775"/>
            <a:ext cx="2605088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dirty="0">
                <a:solidFill>
                  <a:srgbClr val="C7EF4E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2025/2026 - Projeto Final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476250" y="5167313"/>
            <a:ext cx="2633663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62663" y="4267200"/>
            <a:ext cx="2605088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48125" y="4424363"/>
            <a:ext cx="461962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ts val="1539"/>
              </a:lnSpc>
              <a:buNone/>
            </a:pPr>
            <a:r>
              <a:rPr lang="en-US" sz="1283" i="1" spc="-28" kern="0" dirty="0">
                <a:solidFill>
                  <a:srgbClr val="C7EF4E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https://github.com/T4V4RES/casino_royale</a:t>
            </a:r>
            <a:endParaRPr lang="en-US" sz="1283" dirty="0"/>
          </a:p>
          <a:p>
            <a:pPr algn="r" indent="0" marL="0">
              <a:lnSpc>
                <a:spcPts val="1539"/>
              </a:lnSpc>
              <a:buNone/>
            </a:pPr>
            <a:r>
              <a:rPr lang="en-US" sz="1283" i="1" spc="-28" kern="0" dirty="0">
                <a:solidFill>
                  <a:srgbClr val="C7EF4E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https://t4v4res.github.io/casino_royale/</a:t>
            </a:r>
            <a:endParaRPr lang="en-US" sz="1283" dirty="0"/>
          </a:p>
        </p:txBody>
      </p:sp>
      <p:sp>
        <p:nvSpPr>
          <p:cNvPr id="11" name="Shape 9"/>
          <p:cNvSpPr/>
          <p:nvPr/>
        </p:nvSpPr>
        <p:spPr>
          <a:xfrm rot="0">
            <a:off x="476250" y="4124324"/>
            <a:ext cx="8191500" cy="0"/>
          </a:xfrm>
          <a:prstGeom prst="line">
            <a:avLst/>
          </a:prstGeom>
          <a:noFill/>
          <a:ln w="4524">
            <a:solidFill>
              <a:srgbClr val="EDE8D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1019175"/>
            <a:ext cx="8177213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5"/>
              </a:lnSpc>
              <a:buNone/>
            </a:pPr>
            <a:r>
              <a:rPr lang="en-US" sz="7125" spc="-157" kern="0" dirty="0">
                <a:solidFill>
                  <a:srgbClr val="00331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Projeto</a:t>
            </a:r>
            <a:endParaRPr lang="en-US" sz="7125" dirty="0"/>
          </a:p>
        </p:txBody>
      </p:sp>
      <p:sp>
        <p:nvSpPr>
          <p:cNvPr id="3" name="Text 1"/>
          <p:cNvSpPr/>
          <p:nvPr/>
        </p:nvSpPr>
        <p:spPr>
          <a:xfrm>
            <a:off x="476250" y="219075"/>
            <a:ext cx="9191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3" b="1" spc="14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CASINO ROYALE 3D</a:t>
            </a:r>
            <a:endParaRPr lang="en-US" sz="713" dirty="0"/>
          </a:p>
        </p:txBody>
      </p:sp>
      <p:sp>
        <p:nvSpPr>
          <p:cNvPr id="4" name="Text 2"/>
          <p:cNvSpPr/>
          <p:nvPr/>
        </p:nvSpPr>
        <p:spPr>
          <a:xfrm>
            <a:off x="8539163" y="219075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ts val="855"/>
              </a:lnSpc>
              <a:buNone/>
            </a:pPr>
            <a:r>
              <a:rPr lang="en-US" sz="713" b="1" spc="14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713" dirty="0"/>
          </a:p>
        </p:txBody>
      </p:sp>
      <p:sp>
        <p:nvSpPr>
          <p:cNvPr id="5" name="Shape 3"/>
          <p:cNvSpPr/>
          <p:nvPr/>
        </p:nvSpPr>
        <p:spPr>
          <a:xfrm>
            <a:off x="476250" y="476250"/>
            <a:ext cx="8177213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6250" y="2571750"/>
            <a:ext cx="2633663" cy="1519238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476250" y="2571750"/>
            <a:ext cx="2633663" cy="1519238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476250" y="2571750"/>
            <a:ext cx="26098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spc="-57" kern="0" dirty="0">
                <a:solidFill>
                  <a:srgbClr val="00000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Ideia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476250" y="3109913"/>
            <a:ext cx="2633663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Casino 3D em primeira pessoa feito em Three.js, explorável no browser.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3252788" y="2571750"/>
            <a:ext cx="2638425" cy="1719263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3252788" y="2571750"/>
            <a:ext cx="2638425" cy="1719263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3252788" y="2571750"/>
            <a:ext cx="26384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spc="-57" kern="0" dirty="0">
                <a:solidFill>
                  <a:srgbClr val="00000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Objetivo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3252788" y="3109913"/>
            <a:ext cx="2638425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Simular uma sala de casino com jogos interativos, personagens, apostas e feedback visual.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6034088" y="2571750"/>
            <a:ext cx="2619375" cy="1719263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6034088" y="2571750"/>
            <a:ext cx="2619375" cy="1719263"/>
          </a:xfrm>
          <a:prstGeom prst="rect">
            <a:avLst/>
          </a:prstGeom>
          <a:noFill/>
          <a:ln/>
        </p:spPr>
      </p:sp>
      <p:sp>
        <p:nvSpPr>
          <p:cNvPr id="16" name="Text 14"/>
          <p:cNvSpPr/>
          <p:nvPr/>
        </p:nvSpPr>
        <p:spPr>
          <a:xfrm>
            <a:off x="6034088" y="2571750"/>
            <a:ext cx="26193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spc="-57" kern="0" dirty="0">
                <a:solidFill>
                  <a:srgbClr val="00000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Experiência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6034088" y="3109913"/>
            <a:ext cx="2600325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utilizador anda pela sala, aproxima-se das zonas e entra em mesas ou sistemas secundários.</a:t>
            </a:r>
            <a:endParaRPr lang="en-US" sz="11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1595438"/>
            <a:ext cx="3948112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25"/>
              </a:lnSpc>
              <a:buNone/>
            </a:pPr>
            <a:r>
              <a:rPr lang="en-US" sz="7125" spc="-157" kern="0" dirty="0">
                <a:solidFill>
                  <a:srgbClr val="00331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Interações possíveis</a:t>
            </a:r>
            <a:endParaRPr lang="en-US" sz="7125" dirty="0"/>
          </a:p>
        </p:txBody>
      </p:sp>
      <p:sp>
        <p:nvSpPr>
          <p:cNvPr id="3" name="Text 1"/>
          <p:cNvSpPr/>
          <p:nvPr/>
        </p:nvSpPr>
        <p:spPr>
          <a:xfrm>
            <a:off x="476250" y="219075"/>
            <a:ext cx="9191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3" b="1" spc="14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CASINO ROYALE 3D</a:t>
            </a:r>
            <a:endParaRPr lang="en-US" sz="713" dirty="0"/>
          </a:p>
        </p:txBody>
      </p:sp>
      <p:sp>
        <p:nvSpPr>
          <p:cNvPr id="4" name="Text 2"/>
          <p:cNvSpPr/>
          <p:nvPr/>
        </p:nvSpPr>
        <p:spPr>
          <a:xfrm>
            <a:off x="8539163" y="219075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ts val="855"/>
              </a:lnSpc>
              <a:buNone/>
            </a:pPr>
            <a:r>
              <a:rPr lang="en-US" sz="713" b="1" spc="14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713" dirty="0"/>
          </a:p>
        </p:txBody>
      </p:sp>
      <p:sp>
        <p:nvSpPr>
          <p:cNvPr id="5" name="Shape 3"/>
          <p:cNvSpPr/>
          <p:nvPr/>
        </p:nvSpPr>
        <p:spPr>
          <a:xfrm>
            <a:off x="5324475" y="1562100"/>
            <a:ext cx="3328988" cy="1971675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5324475" y="1562100"/>
            <a:ext cx="3328988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spc="-28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Mover, correr e olhar em primeira pessoa.</a:t>
            </a:r>
            <a:endParaRPr lang="en-US" sz="1283" dirty="0"/>
          </a:p>
        </p:txBody>
      </p:sp>
      <p:sp>
        <p:nvSpPr>
          <p:cNvPr id="7" name="Shape 5"/>
          <p:cNvSpPr/>
          <p:nvPr/>
        </p:nvSpPr>
        <p:spPr>
          <a:xfrm>
            <a:off x="5324475" y="1890713"/>
            <a:ext cx="3328988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24475" y="2014538"/>
            <a:ext cx="3328988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spc="-28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Jogar Blackjack, Poker, Roleta e Slots.</a:t>
            </a:r>
            <a:endParaRPr lang="en-US" sz="1283" dirty="0"/>
          </a:p>
        </p:txBody>
      </p:sp>
      <p:sp>
        <p:nvSpPr>
          <p:cNvPr id="9" name="Shape 7"/>
          <p:cNvSpPr/>
          <p:nvPr/>
        </p:nvSpPr>
        <p:spPr>
          <a:xfrm>
            <a:off x="5324475" y="2343150"/>
            <a:ext cx="3328988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24475" y="2466975"/>
            <a:ext cx="332898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spc="-28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Interagir com ATM, bar, bots, fichas e mesas.</a:t>
            </a:r>
            <a:endParaRPr lang="en-US" sz="1283" dirty="0"/>
          </a:p>
        </p:txBody>
      </p:sp>
      <p:sp>
        <p:nvSpPr>
          <p:cNvPr id="11" name="Shape 9"/>
          <p:cNvSpPr/>
          <p:nvPr/>
        </p:nvSpPr>
        <p:spPr>
          <a:xfrm>
            <a:off x="5324475" y="3000375"/>
            <a:ext cx="3328988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24475" y="3124200"/>
            <a:ext cx="332898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spc="-28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Usar teclado/rato ou controlos touch no telemóvel/tablet</a:t>
            </a:r>
            <a:endParaRPr lang="en-US" sz="1283" dirty="0"/>
          </a:p>
        </p:txBody>
      </p:sp>
      <p:sp>
        <p:nvSpPr>
          <p:cNvPr id="13" name="Shape 11"/>
          <p:cNvSpPr/>
          <p:nvPr/>
        </p:nvSpPr>
        <p:spPr>
          <a:xfrm>
            <a:off x="476250" y="476250"/>
            <a:ext cx="8177213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1019175"/>
            <a:ext cx="817721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5"/>
              </a:lnSpc>
              <a:buNone/>
            </a:pPr>
            <a:r>
              <a:rPr lang="en-US" sz="7125" spc="-157" kern="0" dirty="0">
                <a:solidFill>
                  <a:srgbClr val="00331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Three.js | Módulos</a:t>
            </a:r>
            <a:endParaRPr lang="en-US" sz="7125" dirty="0"/>
          </a:p>
        </p:txBody>
      </p:sp>
      <p:sp>
        <p:nvSpPr>
          <p:cNvPr id="3" name="Text 1"/>
          <p:cNvSpPr/>
          <p:nvPr/>
        </p:nvSpPr>
        <p:spPr>
          <a:xfrm>
            <a:off x="476250" y="219075"/>
            <a:ext cx="9191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3" b="1" spc="14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CASINO ROYALE 3D</a:t>
            </a:r>
            <a:endParaRPr lang="en-US" sz="713" dirty="0"/>
          </a:p>
        </p:txBody>
      </p:sp>
      <p:sp>
        <p:nvSpPr>
          <p:cNvPr id="4" name="Text 2"/>
          <p:cNvSpPr/>
          <p:nvPr/>
        </p:nvSpPr>
        <p:spPr>
          <a:xfrm>
            <a:off x="8539163" y="219075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ts val="855"/>
              </a:lnSpc>
              <a:buNone/>
            </a:pPr>
            <a:r>
              <a:rPr lang="en-US" sz="713" b="1" spc="14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713" dirty="0"/>
          </a:p>
        </p:txBody>
      </p:sp>
      <p:sp>
        <p:nvSpPr>
          <p:cNvPr id="5" name="Shape 3"/>
          <p:cNvSpPr/>
          <p:nvPr/>
        </p:nvSpPr>
        <p:spPr>
          <a:xfrm>
            <a:off x="476250" y="476250"/>
            <a:ext cx="8177213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6250" y="2571750"/>
            <a:ext cx="2633663" cy="142875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476250" y="2571750"/>
            <a:ext cx="2633663" cy="1428750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476250" y="2571750"/>
            <a:ext cx="26098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spc="-57" kern="0" dirty="0">
                <a:solidFill>
                  <a:srgbClr val="00000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Núcleo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476250" y="3109913"/>
            <a:ext cx="2633663" cy="89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Three.js gere cena, câmara, WebGLRenderer, materiais, luzes e malhas.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3252788" y="2571750"/>
            <a:ext cx="2638425" cy="1228725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3252788" y="2571750"/>
            <a:ext cx="2638425" cy="1228725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3252788" y="2571750"/>
            <a:ext cx="26384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spc="-57" kern="0" dirty="0">
                <a:solidFill>
                  <a:srgbClr val="00000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Pipeline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3252788" y="3109913"/>
            <a:ext cx="2638425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Vite gera a build estática publicada em GitHub Pages.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6034088" y="2571750"/>
            <a:ext cx="2619375" cy="1628775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6034088" y="2571750"/>
            <a:ext cx="2619375" cy="1628775"/>
          </a:xfrm>
          <a:prstGeom prst="rect">
            <a:avLst/>
          </a:prstGeom>
          <a:noFill/>
          <a:ln/>
        </p:spPr>
      </p:sp>
      <p:sp>
        <p:nvSpPr>
          <p:cNvPr id="16" name="Text 14"/>
          <p:cNvSpPr/>
          <p:nvPr/>
        </p:nvSpPr>
        <p:spPr>
          <a:xfrm>
            <a:off x="6034088" y="2571750"/>
            <a:ext cx="26193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spc="-57" kern="0" dirty="0">
                <a:solidFill>
                  <a:srgbClr val="00000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Addons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6034088" y="3109913"/>
            <a:ext cx="2600325" cy="1090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RoomEnvironment, PMREMGenerator e RectAreaLightUniformsLib para reflexos e luzes de área.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1019175"/>
            <a:ext cx="817721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5"/>
              </a:lnSpc>
              <a:buNone/>
            </a:pPr>
            <a:r>
              <a:rPr lang="en-US" sz="7125" spc="-157" kern="0" dirty="0">
                <a:solidFill>
                  <a:srgbClr val="00331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Modelos | Scenes Graph</a:t>
            </a:r>
            <a:endParaRPr lang="en-US" sz="7125" dirty="0"/>
          </a:p>
        </p:txBody>
      </p:sp>
      <p:sp>
        <p:nvSpPr>
          <p:cNvPr id="3" name="Text 1"/>
          <p:cNvSpPr/>
          <p:nvPr/>
        </p:nvSpPr>
        <p:spPr>
          <a:xfrm>
            <a:off x="476250" y="219075"/>
            <a:ext cx="9191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3" b="1" spc="14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CASINO ROYALE 3D</a:t>
            </a:r>
            <a:endParaRPr lang="en-US" sz="713" dirty="0"/>
          </a:p>
        </p:txBody>
      </p:sp>
      <p:sp>
        <p:nvSpPr>
          <p:cNvPr id="4" name="Text 2"/>
          <p:cNvSpPr/>
          <p:nvPr/>
        </p:nvSpPr>
        <p:spPr>
          <a:xfrm>
            <a:off x="8539163" y="219075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ts val="855"/>
              </a:lnSpc>
              <a:buNone/>
            </a:pPr>
            <a:r>
              <a:rPr lang="en-US" sz="713" b="1" spc="14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713" dirty="0"/>
          </a:p>
        </p:txBody>
      </p:sp>
      <p:sp>
        <p:nvSpPr>
          <p:cNvPr id="5" name="Shape 3"/>
          <p:cNvSpPr/>
          <p:nvPr/>
        </p:nvSpPr>
        <p:spPr>
          <a:xfrm>
            <a:off x="476250" y="476250"/>
            <a:ext cx="8177213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6250" y="2571750"/>
            <a:ext cx="2633663" cy="1719263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476250" y="2571750"/>
            <a:ext cx="2633663" cy="1719263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476250" y="2571750"/>
            <a:ext cx="26098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spc="-57" kern="0" dirty="0">
                <a:solidFill>
                  <a:srgbClr val="00000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Mapa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476250" y="3109913"/>
            <a:ext cx="2633663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Não usa array de tiles: é um grafo de cena 3D procedural em CasinoWorld.js.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3252788" y="2571750"/>
            <a:ext cx="2638425" cy="1719263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3252788" y="2571750"/>
            <a:ext cx="2638425" cy="1719263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3252788" y="2571750"/>
            <a:ext cx="26384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spc="-57" kern="0" dirty="0">
                <a:solidFill>
                  <a:srgbClr val="00000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Objetos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3252788" y="3109913"/>
            <a:ext cx="2638425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Mesas, cadeiras, slots, bar, ATM, pilares e personagens são THREE.Group com meshes filhos.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6034088" y="2571750"/>
            <a:ext cx="2619375" cy="1719263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6034088" y="2571750"/>
            <a:ext cx="2619375" cy="1719263"/>
          </a:xfrm>
          <a:prstGeom prst="rect">
            <a:avLst/>
          </a:prstGeom>
          <a:noFill/>
          <a:ln/>
        </p:spPr>
      </p:sp>
      <p:sp>
        <p:nvSpPr>
          <p:cNvPr id="16" name="Text 14"/>
          <p:cNvSpPr/>
          <p:nvPr/>
        </p:nvSpPr>
        <p:spPr>
          <a:xfrm>
            <a:off x="6034088" y="2571750"/>
            <a:ext cx="26193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spc="-57" kern="0" dirty="0">
                <a:solidFill>
                  <a:srgbClr val="00000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Colisões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6034088" y="3109913"/>
            <a:ext cx="2600325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Colliders AABB impedem atravessar paredes, mesas, bar, slots e decoração principal.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1204913"/>
            <a:ext cx="3948112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25"/>
              </a:lnSpc>
              <a:buNone/>
            </a:pPr>
            <a:r>
              <a:rPr lang="en-US" sz="7125" spc="-157" kern="0" dirty="0">
                <a:solidFill>
                  <a:srgbClr val="00331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Iluminação</a:t>
            </a:r>
            <a:endParaRPr lang="en-US" sz="7125" dirty="0"/>
          </a:p>
          <a:p>
            <a:pPr algn="l" indent="0" marL="0">
              <a:lnSpc>
                <a:spcPts val="7125"/>
              </a:lnSpc>
              <a:buNone/>
            </a:pPr>
            <a:r>
              <a:rPr lang="en-US" sz="7125" spc="-157" kern="0" dirty="0">
                <a:solidFill>
                  <a:srgbClr val="00331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Materiais</a:t>
            </a:r>
            <a:endParaRPr lang="en-US" sz="7125" dirty="0"/>
          </a:p>
          <a:p>
            <a:pPr algn="l" indent="0" marL="0">
              <a:lnSpc>
                <a:spcPts val="7125"/>
              </a:lnSpc>
              <a:buNone/>
            </a:pPr>
            <a:r>
              <a:rPr lang="en-US" sz="7125" spc="-157" kern="0" dirty="0">
                <a:solidFill>
                  <a:srgbClr val="00331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Texturas</a:t>
            </a:r>
            <a:endParaRPr lang="en-US" sz="7125" dirty="0"/>
          </a:p>
        </p:txBody>
      </p:sp>
      <p:sp>
        <p:nvSpPr>
          <p:cNvPr id="3" name="Text 1"/>
          <p:cNvSpPr/>
          <p:nvPr/>
        </p:nvSpPr>
        <p:spPr>
          <a:xfrm>
            <a:off x="476250" y="219075"/>
            <a:ext cx="9191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3" b="1" spc="14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CASINO ROYALE 3D</a:t>
            </a:r>
            <a:endParaRPr lang="en-US" sz="713" dirty="0"/>
          </a:p>
        </p:txBody>
      </p:sp>
      <p:sp>
        <p:nvSpPr>
          <p:cNvPr id="4" name="Text 2"/>
          <p:cNvSpPr/>
          <p:nvPr/>
        </p:nvSpPr>
        <p:spPr>
          <a:xfrm>
            <a:off x="8539163" y="219075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ts val="855"/>
              </a:lnSpc>
              <a:buNone/>
            </a:pPr>
            <a:r>
              <a:rPr lang="en-US" sz="713" b="1" spc="14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</a:t>
            </a:r>
            <a:endParaRPr lang="en-US" sz="713" dirty="0"/>
          </a:p>
        </p:txBody>
      </p:sp>
      <p:sp>
        <p:nvSpPr>
          <p:cNvPr id="5" name="Shape 3"/>
          <p:cNvSpPr/>
          <p:nvPr/>
        </p:nvSpPr>
        <p:spPr>
          <a:xfrm>
            <a:off x="5324475" y="1562100"/>
            <a:ext cx="3328988" cy="2338388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5324475" y="1562100"/>
            <a:ext cx="3328988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spc="-28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Ambient/Hemisphere, DirectionalLight com sombras, SpotLights nas mesas e RectAreaLight no bar.</a:t>
            </a:r>
            <a:endParaRPr lang="en-US" sz="1283" dirty="0"/>
          </a:p>
        </p:txBody>
      </p:sp>
      <p:sp>
        <p:nvSpPr>
          <p:cNvPr id="7" name="Shape 5"/>
          <p:cNvSpPr/>
          <p:nvPr/>
        </p:nvSpPr>
        <p:spPr>
          <a:xfrm>
            <a:off x="5324475" y="2300288"/>
            <a:ext cx="3328988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24475" y="2424113"/>
            <a:ext cx="3328988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spc="-28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MeshStandardMaterial e MeshPhysicalMaterial com metalness, roughness e clearcoat.</a:t>
            </a:r>
            <a:endParaRPr lang="en-US" sz="1283" dirty="0"/>
          </a:p>
        </p:txBody>
      </p:sp>
      <p:sp>
        <p:nvSpPr>
          <p:cNvPr id="9" name="Shape 7"/>
          <p:cNvSpPr/>
          <p:nvPr/>
        </p:nvSpPr>
        <p:spPr>
          <a:xfrm>
            <a:off x="5324475" y="3162300"/>
            <a:ext cx="3328988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24475" y="3286125"/>
            <a:ext cx="3328988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spc="-28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Carpete, madeira, mármore, feltro e paredes gerados em Canvas com normal/roughness maps.</a:t>
            </a:r>
            <a:endParaRPr lang="en-US" sz="1283" dirty="0"/>
          </a:p>
        </p:txBody>
      </p:sp>
      <p:sp>
        <p:nvSpPr>
          <p:cNvPr id="11" name="Shape 9"/>
          <p:cNvSpPr/>
          <p:nvPr/>
        </p:nvSpPr>
        <p:spPr>
          <a:xfrm>
            <a:off x="476250" y="476250"/>
            <a:ext cx="8177213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1019175"/>
            <a:ext cx="817721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5"/>
              </a:lnSpc>
              <a:buNone/>
            </a:pPr>
            <a:r>
              <a:rPr lang="en-US" sz="7125" spc="-157" kern="0" dirty="0">
                <a:solidFill>
                  <a:srgbClr val="00331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Animação</a:t>
            </a:r>
            <a:endParaRPr lang="en-US" sz="7125" dirty="0"/>
          </a:p>
        </p:txBody>
      </p:sp>
      <p:sp>
        <p:nvSpPr>
          <p:cNvPr id="3" name="Text 1"/>
          <p:cNvSpPr/>
          <p:nvPr/>
        </p:nvSpPr>
        <p:spPr>
          <a:xfrm>
            <a:off x="476250" y="219075"/>
            <a:ext cx="9191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3" b="1" spc="14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CASINO ROYALE 3D</a:t>
            </a:r>
            <a:endParaRPr lang="en-US" sz="713" dirty="0"/>
          </a:p>
        </p:txBody>
      </p:sp>
      <p:sp>
        <p:nvSpPr>
          <p:cNvPr id="4" name="Text 2"/>
          <p:cNvSpPr/>
          <p:nvPr/>
        </p:nvSpPr>
        <p:spPr>
          <a:xfrm>
            <a:off x="8539163" y="219075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ts val="855"/>
              </a:lnSpc>
              <a:buNone/>
            </a:pPr>
            <a:r>
              <a:rPr lang="en-US" sz="713" b="1" spc="14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06</a:t>
            </a:r>
            <a:endParaRPr lang="en-US" sz="713" dirty="0"/>
          </a:p>
        </p:txBody>
      </p:sp>
      <p:sp>
        <p:nvSpPr>
          <p:cNvPr id="5" name="Shape 3"/>
          <p:cNvSpPr/>
          <p:nvPr/>
        </p:nvSpPr>
        <p:spPr>
          <a:xfrm>
            <a:off x="476250" y="476250"/>
            <a:ext cx="8177213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6250" y="2571750"/>
            <a:ext cx="2633663" cy="1719263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476250" y="2571750"/>
            <a:ext cx="2633663" cy="1719263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476250" y="2571750"/>
            <a:ext cx="26098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spc="-57" kern="0" dirty="0">
                <a:solidFill>
                  <a:srgbClr val="00000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Tweens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476250" y="3109913"/>
            <a:ext cx="2633663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AnimationManager usa Promises, easing cúbico, easeOutBack e interpolação temporal.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3252788" y="2571750"/>
            <a:ext cx="2638425" cy="1719263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3252788" y="2571750"/>
            <a:ext cx="2638425" cy="1719263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3252788" y="2571750"/>
            <a:ext cx="26384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spc="-57" kern="0" dirty="0">
                <a:solidFill>
                  <a:srgbClr val="00000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Câmera | Cartas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3252788" y="3109913"/>
            <a:ext cx="2638425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Transições com lerp/slerp; cartas deslizam, aterram e viram em três fases.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6034088" y="2571750"/>
            <a:ext cx="2619375" cy="1428750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6034088" y="2571750"/>
            <a:ext cx="2619375" cy="1428750"/>
          </a:xfrm>
          <a:prstGeom prst="rect">
            <a:avLst/>
          </a:prstGeom>
          <a:noFill/>
          <a:ln/>
        </p:spPr>
      </p:sp>
      <p:sp>
        <p:nvSpPr>
          <p:cNvPr id="16" name="Text 14"/>
          <p:cNvSpPr/>
          <p:nvPr/>
        </p:nvSpPr>
        <p:spPr>
          <a:xfrm>
            <a:off x="6034088" y="2571750"/>
            <a:ext cx="26193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spc="-57" kern="0" dirty="0">
                <a:solidFill>
                  <a:srgbClr val="00000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Personagens | Jogos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6034088" y="3109913"/>
            <a:ext cx="2600325" cy="89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Bots fazem think, check, call, raise, fold e celebrate; roleta e slots têm animações próprias.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1019175"/>
            <a:ext cx="817721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5"/>
              </a:lnSpc>
              <a:buNone/>
            </a:pPr>
            <a:r>
              <a:rPr lang="en-US" sz="7125" spc="-157" kern="0" dirty="0">
                <a:solidFill>
                  <a:srgbClr val="00331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User interaction</a:t>
            </a:r>
            <a:endParaRPr lang="en-US" sz="7125" dirty="0"/>
          </a:p>
        </p:txBody>
      </p:sp>
      <p:sp>
        <p:nvSpPr>
          <p:cNvPr id="3" name="Text 1"/>
          <p:cNvSpPr/>
          <p:nvPr/>
        </p:nvSpPr>
        <p:spPr>
          <a:xfrm>
            <a:off x="476250" y="219075"/>
            <a:ext cx="9191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3" b="1" spc="14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CASINO ROYALE 3D</a:t>
            </a:r>
            <a:endParaRPr lang="en-US" sz="713" dirty="0"/>
          </a:p>
        </p:txBody>
      </p:sp>
      <p:sp>
        <p:nvSpPr>
          <p:cNvPr id="4" name="Text 2"/>
          <p:cNvSpPr/>
          <p:nvPr/>
        </p:nvSpPr>
        <p:spPr>
          <a:xfrm>
            <a:off x="8539163" y="219075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ts val="855"/>
              </a:lnSpc>
              <a:buNone/>
            </a:pPr>
            <a:r>
              <a:rPr lang="en-US" sz="713" b="1" spc="14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07</a:t>
            </a:r>
            <a:endParaRPr lang="en-US" sz="713" dirty="0"/>
          </a:p>
        </p:txBody>
      </p:sp>
      <p:sp>
        <p:nvSpPr>
          <p:cNvPr id="5" name="Shape 3"/>
          <p:cNvSpPr/>
          <p:nvPr/>
        </p:nvSpPr>
        <p:spPr>
          <a:xfrm>
            <a:off x="476250" y="476250"/>
            <a:ext cx="8177213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6250" y="2571750"/>
            <a:ext cx="2633663" cy="2009775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476250" y="2571750"/>
            <a:ext cx="2633663" cy="2009775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476250" y="2571750"/>
            <a:ext cx="26098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spc="-57" kern="0" dirty="0">
                <a:solidFill>
                  <a:srgbClr val="00000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Câmera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476250" y="3109913"/>
            <a:ext cx="2633663" cy="1471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PerspectiveCamera em primeira pessoa com Pointer Lock no desktop.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3252788" y="2571750"/>
            <a:ext cx="2638425" cy="2009775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3252788" y="2571750"/>
            <a:ext cx="2638425" cy="2009775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3252788" y="2571750"/>
            <a:ext cx="26384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spc="-57" kern="0" dirty="0">
                <a:solidFill>
                  <a:srgbClr val="00000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Zonas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3252788" y="3109913"/>
            <a:ext cx="2638425" cy="1471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InteractionSystem calcula distância planar X/Z e ativa a zona mais próxima dentro do raio.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6034088" y="2571750"/>
            <a:ext cx="2619375" cy="1719263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6034088" y="2571750"/>
            <a:ext cx="2619375" cy="1719263"/>
          </a:xfrm>
          <a:prstGeom prst="rect">
            <a:avLst/>
          </a:prstGeom>
          <a:noFill/>
          <a:ln/>
        </p:spPr>
      </p:sp>
      <p:sp>
        <p:nvSpPr>
          <p:cNvPr id="16" name="Text 14"/>
          <p:cNvSpPr/>
          <p:nvPr/>
        </p:nvSpPr>
        <p:spPr>
          <a:xfrm>
            <a:off x="6034088" y="2571750"/>
            <a:ext cx="26193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spc="-57" kern="0" dirty="0">
                <a:solidFill>
                  <a:srgbClr val="00000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Mobile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6034088" y="3109913"/>
            <a:ext cx="2600325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TouchControls cria joystick, olhar por toque, botões Interagir/Correr/Sair e de-duplicação de eventos.</a:t>
            </a:r>
            <a:endParaRPr lang="en-US" sz="11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1019175"/>
            <a:ext cx="817721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5"/>
              </a:lnSpc>
              <a:buNone/>
            </a:pPr>
            <a:r>
              <a:rPr lang="en-US" sz="7125" spc="-157" kern="0" dirty="0">
                <a:solidFill>
                  <a:srgbClr val="00331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Arquitetura técnica</a:t>
            </a:r>
            <a:endParaRPr lang="en-US" sz="7125" dirty="0"/>
          </a:p>
        </p:txBody>
      </p:sp>
      <p:sp>
        <p:nvSpPr>
          <p:cNvPr id="3" name="Text 1"/>
          <p:cNvSpPr/>
          <p:nvPr/>
        </p:nvSpPr>
        <p:spPr>
          <a:xfrm>
            <a:off x="476250" y="219075"/>
            <a:ext cx="9191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3" b="1" spc="14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CASINO ROYALE 3D</a:t>
            </a:r>
            <a:endParaRPr lang="en-US" sz="713" dirty="0"/>
          </a:p>
        </p:txBody>
      </p:sp>
      <p:sp>
        <p:nvSpPr>
          <p:cNvPr id="4" name="Text 2"/>
          <p:cNvSpPr/>
          <p:nvPr/>
        </p:nvSpPr>
        <p:spPr>
          <a:xfrm>
            <a:off x="8539163" y="219075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ts val="855"/>
              </a:lnSpc>
              <a:buNone/>
            </a:pPr>
            <a:r>
              <a:rPr lang="en-US" sz="713" b="1" spc="14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08</a:t>
            </a:r>
            <a:endParaRPr lang="en-US" sz="713" dirty="0"/>
          </a:p>
        </p:txBody>
      </p:sp>
      <p:sp>
        <p:nvSpPr>
          <p:cNvPr id="5" name="Shape 3"/>
          <p:cNvSpPr/>
          <p:nvPr/>
        </p:nvSpPr>
        <p:spPr>
          <a:xfrm>
            <a:off x="476250" y="476250"/>
            <a:ext cx="8177213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6250" y="2571750"/>
            <a:ext cx="2633663" cy="2100263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476250" y="2571750"/>
            <a:ext cx="2633663" cy="2100263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476250" y="2571750"/>
            <a:ext cx="26098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spc="-57" kern="0" dirty="0">
                <a:solidFill>
                  <a:srgbClr val="00000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Main.js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476250" y="3109913"/>
            <a:ext cx="2633663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Arranque, renderer, estado global, input, transições e loop animate().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3252788" y="2571750"/>
            <a:ext cx="2638425" cy="2100263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3252788" y="2571750"/>
            <a:ext cx="2638425" cy="2100263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3252788" y="2571750"/>
            <a:ext cx="26384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spc="-57" kern="0" dirty="0">
                <a:solidFill>
                  <a:srgbClr val="00000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Scene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3252788" y="3109913"/>
            <a:ext cx="2638425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Construção visual, movimento FPS, interações, animações, ATM e bar.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6034088" y="2571750"/>
            <a:ext cx="2619375" cy="2009775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6034088" y="2571750"/>
            <a:ext cx="2619375" cy="2009775"/>
          </a:xfrm>
          <a:prstGeom prst="rect">
            <a:avLst/>
          </a:prstGeom>
          <a:noFill/>
          <a:ln/>
        </p:spPr>
      </p:sp>
      <p:sp>
        <p:nvSpPr>
          <p:cNvPr id="16" name="Text 14"/>
          <p:cNvSpPr/>
          <p:nvPr/>
        </p:nvSpPr>
        <p:spPr>
          <a:xfrm>
            <a:off x="6034088" y="2571750"/>
            <a:ext cx="26193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spc="-57" kern="0" dirty="0">
                <a:solidFill>
                  <a:srgbClr val="00000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Games | Controllers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6034088" y="3109913"/>
            <a:ext cx="2600325" cy="1471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Regras puras em games/; controllers ligam regras, HUD HTML e objetos 3D.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1019175"/>
            <a:ext cx="817721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5"/>
              </a:lnSpc>
              <a:buNone/>
            </a:pPr>
            <a:r>
              <a:rPr lang="en-US" sz="7125" spc="-157" kern="0" dirty="0">
                <a:solidFill>
                  <a:srgbClr val="00331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Uso de Ia</a:t>
            </a:r>
            <a:endParaRPr lang="en-US" sz="7125" dirty="0"/>
          </a:p>
        </p:txBody>
      </p:sp>
      <p:sp>
        <p:nvSpPr>
          <p:cNvPr id="3" name="Text 1"/>
          <p:cNvSpPr/>
          <p:nvPr/>
        </p:nvSpPr>
        <p:spPr>
          <a:xfrm>
            <a:off x="476250" y="219075"/>
            <a:ext cx="9191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3" b="1" spc="14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CASINO ROYALE 3D</a:t>
            </a:r>
            <a:endParaRPr lang="en-US" sz="713" dirty="0"/>
          </a:p>
        </p:txBody>
      </p:sp>
      <p:sp>
        <p:nvSpPr>
          <p:cNvPr id="4" name="Text 2"/>
          <p:cNvSpPr/>
          <p:nvPr/>
        </p:nvSpPr>
        <p:spPr>
          <a:xfrm>
            <a:off x="8539163" y="219075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ts val="855"/>
              </a:lnSpc>
              <a:buNone/>
            </a:pPr>
            <a:r>
              <a:rPr lang="en-US" sz="713" b="1" spc="14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09</a:t>
            </a:r>
            <a:endParaRPr lang="en-US" sz="713" dirty="0"/>
          </a:p>
        </p:txBody>
      </p:sp>
      <p:sp>
        <p:nvSpPr>
          <p:cNvPr id="5" name="Shape 3"/>
          <p:cNvSpPr/>
          <p:nvPr/>
        </p:nvSpPr>
        <p:spPr>
          <a:xfrm>
            <a:off x="476250" y="476250"/>
            <a:ext cx="8177213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6250" y="2571750"/>
            <a:ext cx="2633663" cy="259080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476250" y="2571750"/>
            <a:ext cx="2633663" cy="2590800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476250" y="2571750"/>
            <a:ext cx="26098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spc="-57" kern="0" dirty="0">
                <a:solidFill>
                  <a:srgbClr val="00000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Abordagem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476250" y="3109913"/>
            <a:ext cx="2633663" cy="2052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usada como apoio técnico e revisão; integração feitas manualmente.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3252788" y="2571750"/>
            <a:ext cx="2638425" cy="25908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3252788" y="2571750"/>
            <a:ext cx="2638425" cy="2590800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3252788" y="2571750"/>
            <a:ext cx="26384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spc="-57" kern="0" dirty="0">
                <a:solidFill>
                  <a:srgbClr val="00000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ChatGPT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3252788" y="3109913"/>
            <a:ext cx="2638425" cy="2052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Organização do relatório/README, validação de deploy e explicações técnicas.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6034088" y="2571750"/>
            <a:ext cx="2619375" cy="2100263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6034088" y="2571750"/>
            <a:ext cx="2619375" cy="2100263"/>
          </a:xfrm>
          <a:prstGeom prst="rect">
            <a:avLst/>
          </a:prstGeom>
          <a:noFill/>
          <a:ln/>
        </p:spPr>
      </p:sp>
      <p:sp>
        <p:nvSpPr>
          <p:cNvPr id="16" name="Text 14"/>
          <p:cNvSpPr/>
          <p:nvPr/>
        </p:nvSpPr>
        <p:spPr>
          <a:xfrm>
            <a:off x="6034088" y="2571750"/>
            <a:ext cx="26193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spc="-57" kern="0" dirty="0">
                <a:solidFill>
                  <a:srgbClr val="00000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Claude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6034088" y="3109913"/>
            <a:ext cx="2600325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Debug mobile, animações dos slots/roleta e polimento de HUD/CSS.</a:t>
            </a:r>
            <a:endParaRPr lang="en-US" sz="11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071688"/>
            <a:ext cx="457676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25"/>
              </a:lnSpc>
              <a:buNone/>
            </a:pPr>
            <a:r>
              <a:rPr lang="en-US" sz="7125" spc="-157" kern="0" dirty="0">
                <a:solidFill>
                  <a:srgbClr val="00331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Performance</a:t>
            </a:r>
            <a:endParaRPr lang="en-US" sz="7125" dirty="0"/>
          </a:p>
        </p:txBody>
      </p:sp>
      <p:sp>
        <p:nvSpPr>
          <p:cNvPr id="3" name="Text 1"/>
          <p:cNvSpPr/>
          <p:nvPr/>
        </p:nvSpPr>
        <p:spPr>
          <a:xfrm>
            <a:off x="476250" y="219075"/>
            <a:ext cx="9191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3" b="1" spc="14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CASINO ROYALE 3D</a:t>
            </a:r>
            <a:endParaRPr lang="en-US" sz="713" dirty="0"/>
          </a:p>
        </p:txBody>
      </p:sp>
      <p:sp>
        <p:nvSpPr>
          <p:cNvPr id="4" name="Text 2"/>
          <p:cNvSpPr/>
          <p:nvPr/>
        </p:nvSpPr>
        <p:spPr>
          <a:xfrm>
            <a:off x="8539163" y="219075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ts val="855"/>
              </a:lnSpc>
              <a:buNone/>
            </a:pPr>
            <a:r>
              <a:rPr lang="en-US" sz="713" b="1" spc="14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713" dirty="0"/>
          </a:p>
        </p:txBody>
      </p:sp>
      <p:sp>
        <p:nvSpPr>
          <p:cNvPr id="5" name="Shape 3"/>
          <p:cNvSpPr/>
          <p:nvPr/>
        </p:nvSpPr>
        <p:spPr>
          <a:xfrm>
            <a:off x="476250" y="3167063"/>
            <a:ext cx="6710363" cy="204788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476250" y="3167063"/>
            <a:ext cx="6710363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spc="-28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Qualidade adaptativa: pixel ratio, sombras, PMREM e fog ajustados a dispositivos fracos.</a:t>
            </a:r>
            <a:endParaRPr lang="en-US" sz="1283" dirty="0"/>
          </a:p>
        </p:txBody>
      </p:sp>
      <p:sp>
        <p:nvSpPr>
          <p:cNvPr id="7" name="Shape 5"/>
          <p:cNvSpPr/>
          <p:nvPr/>
        </p:nvSpPr>
        <p:spPr>
          <a:xfrm>
            <a:off x="476250" y="476250"/>
            <a:ext cx="8177213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009775"/>
            <a:ext cx="5791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25"/>
              </a:lnSpc>
              <a:buNone/>
            </a:pPr>
            <a:r>
              <a:rPr lang="en-US" sz="7125" spc="-157" kern="0" dirty="0">
                <a:solidFill>
                  <a:srgbClr val="00331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Compatibilidade</a:t>
            </a:r>
            <a:endParaRPr lang="en-US" sz="7125" dirty="0"/>
          </a:p>
        </p:txBody>
      </p:sp>
      <p:sp>
        <p:nvSpPr>
          <p:cNvPr id="3" name="Text 1"/>
          <p:cNvSpPr/>
          <p:nvPr/>
        </p:nvSpPr>
        <p:spPr>
          <a:xfrm>
            <a:off x="476250" y="219075"/>
            <a:ext cx="9191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3" b="1" spc="14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CASINO ROYALE 3D</a:t>
            </a:r>
            <a:endParaRPr lang="en-US" sz="713" dirty="0"/>
          </a:p>
        </p:txBody>
      </p:sp>
      <p:sp>
        <p:nvSpPr>
          <p:cNvPr id="4" name="Text 2"/>
          <p:cNvSpPr/>
          <p:nvPr/>
        </p:nvSpPr>
        <p:spPr>
          <a:xfrm>
            <a:off x="8539163" y="219075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ts val="855"/>
              </a:lnSpc>
              <a:buNone/>
            </a:pPr>
            <a:r>
              <a:rPr lang="en-US" sz="713" b="1" spc="14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</a:t>
            </a:r>
            <a:endParaRPr lang="en-US" sz="713" dirty="0"/>
          </a:p>
        </p:txBody>
      </p:sp>
      <p:sp>
        <p:nvSpPr>
          <p:cNvPr id="5" name="Shape 3"/>
          <p:cNvSpPr/>
          <p:nvPr/>
        </p:nvSpPr>
        <p:spPr>
          <a:xfrm>
            <a:off x="476250" y="3167063"/>
            <a:ext cx="6538913" cy="204788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476250" y="3167063"/>
            <a:ext cx="6538913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spc="-28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Desktop completo; mobile com controlos touch e modo leve para evitar picos WebGL.</a:t>
            </a:r>
            <a:endParaRPr lang="en-US" sz="1283" dirty="0"/>
          </a:p>
        </p:txBody>
      </p:sp>
      <p:sp>
        <p:nvSpPr>
          <p:cNvPr id="7" name="Shape 5"/>
          <p:cNvSpPr/>
          <p:nvPr/>
        </p:nvSpPr>
        <p:spPr>
          <a:xfrm>
            <a:off x="476250" y="476250"/>
            <a:ext cx="8177213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071688"/>
            <a:ext cx="457676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25"/>
              </a:lnSpc>
              <a:buNone/>
            </a:pPr>
            <a:r>
              <a:rPr lang="en-US" sz="7125" spc="-157" kern="0" dirty="0">
                <a:solidFill>
                  <a:srgbClr val="00331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Conclusão</a:t>
            </a:r>
            <a:endParaRPr lang="en-US" sz="7125" dirty="0"/>
          </a:p>
        </p:txBody>
      </p:sp>
      <p:sp>
        <p:nvSpPr>
          <p:cNvPr id="3" name="Text 1"/>
          <p:cNvSpPr/>
          <p:nvPr/>
        </p:nvSpPr>
        <p:spPr>
          <a:xfrm>
            <a:off x="476250" y="219075"/>
            <a:ext cx="9191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3" b="1" spc="14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CASINO ROYALE 3D</a:t>
            </a:r>
            <a:endParaRPr lang="en-US" sz="713" dirty="0"/>
          </a:p>
        </p:txBody>
      </p:sp>
      <p:sp>
        <p:nvSpPr>
          <p:cNvPr id="4" name="Text 2"/>
          <p:cNvSpPr/>
          <p:nvPr/>
        </p:nvSpPr>
        <p:spPr>
          <a:xfrm>
            <a:off x="8539163" y="219075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ts val="855"/>
              </a:lnSpc>
              <a:buNone/>
            </a:pPr>
            <a:r>
              <a:rPr lang="en-US" sz="713" b="1" spc="14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713" dirty="0"/>
          </a:p>
        </p:txBody>
      </p:sp>
      <p:sp>
        <p:nvSpPr>
          <p:cNvPr id="5" name="Shape 3"/>
          <p:cNvSpPr/>
          <p:nvPr/>
        </p:nvSpPr>
        <p:spPr>
          <a:xfrm>
            <a:off x="476250" y="3167063"/>
            <a:ext cx="7648575" cy="204788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476250" y="3167063"/>
            <a:ext cx="7648575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spc="-28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demonstra cena 3D interativa, materiais procedurais, animação temporal e jogos completos.</a:t>
            </a:r>
            <a:endParaRPr lang="en-US" sz="1283" dirty="0"/>
          </a:p>
        </p:txBody>
      </p:sp>
      <p:sp>
        <p:nvSpPr>
          <p:cNvPr id="7" name="Shape 5"/>
          <p:cNvSpPr/>
          <p:nvPr/>
        </p:nvSpPr>
        <p:spPr>
          <a:xfrm>
            <a:off x="476250" y="476250"/>
            <a:ext cx="8177213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814388"/>
            <a:ext cx="3948112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25"/>
              </a:lnSpc>
              <a:buNone/>
            </a:pPr>
            <a:r>
              <a:rPr lang="en-US" sz="7125" spc="-157" kern="0" dirty="0">
                <a:solidFill>
                  <a:srgbClr val="003310">
                    <a:alpha val="99000"/>
                  </a:srgbClr>
                </a:solidFill>
                <a:latin typeface="Neuton" pitchFamily="34" charset="0"/>
                <a:ea typeface="Neuton" pitchFamily="34" charset="-122"/>
                <a:cs typeface="Neuton" pitchFamily="34" charset="-120"/>
              </a:rPr>
              <a:t>Referências</a:t>
            </a:r>
            <a:endParaRPr lang="en-US" sz="7125" dirty="0"/>
          </a:p>
        </p:txBody>
      </p:sp>
      <p:sp>
        <p:nvSpPr>
          <p:cNvPr id="3" name="Text 1"/>
          <p:cNvSpPr/>
          <p:nvPr/>
        </p:nvSpPr>
        <p:spPr>
          <a:xfrm>
            <a:off x="476250" y="219075"/>
            <a:ext cx="9191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3" b="1" spc="14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CASINO ROYALE 3D</a:t>
            </a:r>
            <a:endParaRPr lang="en-US" sz="713" dirty="0"/>
          </a:p>
        </p:txBody>
      </p:sp>
      <p:sp>
        <p:nvSpPr>
          <p:cNvPr id="4" name="Text 2"/>
          <p:cNvSpPr/>
          <p:nvPr/>
        </p:nvSpPr>
        <p:spPr>
          <a:xfrm>
            <a:off x="8539163" y="219075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ts val="855"/>
              </a:lnSpc>
              <a:buNone/>
            </a:pPr>
            <a:r>
              <a:rPr lang="en-US" sz="713" b="1" spc="14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</a:t>
            </a:r>
            <a:endParaRPr lang="en-US" sz="713" dirty="0"/>
          </a:p>
        </p:txBody>
      </p:sp>
      <p:sp>
        <p:nvSpPr>
          <p:cNvPr id="5" name="Shape 3"/>
          <p:cNvSpPr/>
          <p:nvPr/>
        </p:nvSpPr>
        <p:spPr>
          <a:xfrm>
            <a:off x="476250" y="2105025"/>
            <a:ext cx="7691438" cy="1843088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476250" y="2105025"/>
            <a:ext cx="7691438" cy="18430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spc="-28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Three.js documentation: renderer, scene graph, cameras, materials and lights.</a:t>
            </a:r>
            <a:endParaRPr lang="en-US" sz="1283" dirty="0"/>
          </a:p>
          <a:p>
            <a:pPr algn="l" indent="0" marL="0">
              <a:lnSpc>
                <a:spcPts val="1539"/>
              </a:lnSpc>
              <a:buNone/>
            </a:pPr>
            <a:r>
              <a:rPr lang="en-US" sz="1283" spc="-28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Three.js examples/addons: RoomEnvironment, PMREMGenerator and RectAreaLight.</a:t>
            </a:r>
            <a:endParaRPr lang="en-US" sz="1283" dirty="0"/>
          </a:p>
          <a:p>
            <a:pPr algn="l" indent="0" marL="0">
              <a:lnSpc>
                <a:spcPts val="1539"/>
              </a:lnSpc>
              <a:buNone/>
            </a:pPr>
            <a:r>
              <a:rPr lang="en-US" sz="1283" spc="-28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Vite documentation: build pipeline and static deployment.</a:t>
            </a:r>
            <a:endParaRPr lang="en-US" sz="1283" dirty="0"/>
          </a:p>
          <a:p>
            <a:pPr algn="l" indent="0" marL="0">
              <a:lnSpc>
                <a:spcPts val="1539"/>
              </a:lnSpc>
              <a:buNone/>
            </a:pPr>
            <a:r>
              <a:rPr lang="en-US" sz="1283" spc="-28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MDN Web Docs: Pointer Lock API, Touch Events, Canvas API and requestAnimationFrame.</a:t>
            </a:r>
            <a:endParaRPr lang="en-US" sz="1283" dirty="0"/>
          </a:p>
          <a:p>
            <a:pPr algn="l" indent="0" marL="0">
              <a:lnSpc>
                <a:spcPts val="1539"/>
              </a:lnSpc>
              <a:buNone/>
            </a:pPr>
            <a:r>
              <a:rPr lang="en-US" sz="1283" spc="-28" kern="0" dirty="0">
                <a:solidFill>
                  <a:srgbClr val="000000">
                    <a:alpha val="99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Rules references for Blackjack, Texas Hold'em hand ranking, European Roulette and slot-machine payouts.</a:t>
            </a:r>
            <a:endParaRPr lang="en-US" sz="1283" dirty="0"/>
          </a:p>
        </p:txBody>
      </p:sp>
      <p:sp>
        <p:nvSpPr>
          <p:cNvPr id="7" name="Shape 5"/>
          <p:cNvSpPr/>
          <p:nvPr/>
        </p:nvSpPr>
        <p:spPr>
          <a:xfrm>
            <a:off x="476250" y="476250"/>
            <a:ext cx="8177213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3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90863" y="1090613"/>
            <a:ext cx="2957513" cy="29575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2026-05-28T12:05:55Z</dcterms:created>
  <dcterms:modified xsi:type="dcterms:W3CDTF">2026-05-28T12:05:55Z</dcterms:modified>
</cp:coreProperties>
</file>